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8" r:id="rId10"/>
    <p:sldId id="264" r:id="rId11"/>
    <p:sldId id="265" r:id="rId12"/>
    <p:sldId id="266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57" r:id="rId22"/>
  </p:sldIdLst>
  <p:sldSz cx="14630400" cy="8229600"/>
  <p:notesSz cx="8229600" cy="14630400"/>
  <p:embeddedFontLst>
    <p:embeddedFont>
      <p:font typeface="Brygada 1918" panose="020B0604020202020204" charset="0"/>
      <p:regular r:id="rId24"/>
    </p:embeddedFont>
    <p:embeddedFont>
      <p:font typeface="Brygada 1918 Semi Bold" panose="020B0604020202020204" charset="0"/>
      <p:regular r:id="rId2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663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16A9-1A0B-2E0C-809C-CB5ED0C5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EA416-BDD4-A5D1-E01A-862C448F5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0F45C-732D-C70D-78CE-B44715DEC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EAC5-90B1-227A-327F-95078ACD9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6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724F0-AD1B-61CB-279C-F6B04C31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0F063-F910-B1E3-62F3-F14D2AFDD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FA7FE-37F6-A6D5-7EB3-BA4BCA6C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A0A97-9139-C7EA-ACBF-EDE0E9D3B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3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B177-A6B5-F279-63CB-6087592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44537C-F939-1EDF-1D63-C9D02D75E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F3CDA-8388-C52A-BF38-29CEE89F0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5A6A-48C0-BBE1-9342-A53C24C6D6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74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sv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sv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18" Type="http://schemas.openxmlformats.org/officeDocument/2006/relationships/image" Target="../media/image40.sv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8.svg"/><Relationship Id="rId20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2.png"/><Relationship Id="rId10" Type="http://schemas.openxmlformats.org/officeDocument/2006/relationships/image" Target="../media/image32.svg"/><Relationship Id="rId19" Type="http://schemas.openxmlformats.org/officeDocument/2006/relationships/image" Target="../media/image41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Relationship Id="rId22" Type="http://schemas.openxmlformats.org/officeDocument/2006/relationships/image" Target="../media/image4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4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4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9591"/>
            <a:ext cx="117846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Sistema de Gestión de Eventos UCompensar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89096"/>
            <a:ext cx="1174825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Proyecto Final - Desarrollo de Sistemas de Información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1962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Integrantes: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90" y="38142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Walther Santiago Jaramillo Martinez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5648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Samuel David Ballesteros Cristo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986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Juan David Cadena Vera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408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Esteban Gabriel Ochoa Muñoz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589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Profesor: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Juan Pablo Hernández Rojas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3769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Fundación Universitaria Compensar, 2025</a:t>
            </a:r>
            <a:endParaRPr lang="en-US" sz="17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4374827-1D3D-37EA-6C63-EBB8E3572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2044" y="7286493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67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Tabla de Contenido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45934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706166"/>
            <a:ext cx="6441996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93790" y="1831181"/>
            <a:ext cx="226730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Definición del Problema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94496" y="145934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94496" y="1706166"/>
            <a:ext cx="6442115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94496" y="1831181"/>
            <a:ext cx="204430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Contexto del Proyecto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235696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790" y="2603778"/>
            <a:ext cx="6441996" cy="22860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93790" y="27287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Objetivos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94496" y="235696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94496" y="2603778"/>
            <a:ext cx="6442115" cy="22860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94496" y="272879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Problemas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3254573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790" y="3501390"/>
            <a:ext cx="6441996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93790" y="362640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Objetivos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394496" y="3254573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94496" y="3501390"/>
            <a:ext cx="6442115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94496" y="362640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Partes Interesadas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3790" y="415218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07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790" y="4399002"/>
            <a:ext cx="6441996" cy="22860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93790" y="4524018"/>
            <a:ext cx="22869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Alternativas de Solución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94496" y="4152186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08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94496" y="4399002"/>
            <a:ext cx="6442115" cy="22860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394496" y="4524018"/>
            <a:ext cx="227111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Selección de Alternativa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504979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09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3790" y="5296614"/>
            <a:ext cx="6441996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93790" y="5421630"/>
            <a:ext cx="431708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Requerimientos Funcionales y No Funcionales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394496" y="504979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10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394496" y="5296614"/>
            <a:ext cx="6442115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394496" y="542163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Casos de Uso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93790" y="5947410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11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3790" y="6194227"/>
            <a:ext cx="6441996" cy="22860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793790" y="6319242"/>
            <a:ext cx="228611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Historias de Caso de Uso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394496" y="5947410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12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94496" y="6194227"/>
            <a:ext cx="6442115" cy="22860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7394496" y="631924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Modelo Relacional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93790" y="684502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13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3790" y="7091839"/>
            <a:ext cx="6441996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793790" y="72168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Wireframes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394496" y="6845022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14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394496" y="7091839"/>
            <a:ext cx="6442115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7394496" y="7216854"/>
            <a:ext cx="199060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PMV (Prueba en Vivo)</a:t>
            </a:r>
            <a:endParaRPr lang="en-US" sz="1550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4CE648FC-EEE6-8CE7-A814-66E8D5E73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747" y="7314012"/>
            <a:ext cx="1984653" cy="915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618530"/>
            <a:ext cx="11768971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Definición del Problema: Desconexión de Eventos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87241" y="1782366"/>
            <a:ext cx="628102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La poca difusión de los eventos académicos e institucionales en la Fundación Universitaria Compensar representa un desafío significativo.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87241" y="3285173"/>
            <a:ext cx="628102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 canales actuales, como el correo electrónico y WhatsApp, son insuficientes y no garantizan que la información llegue de manera efectiva a todos los estudiantes y miembros de la comunidad.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241" y="5148766"/>
            <a:ext cx="628102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Esta situación se agrava por la falta de un medio unificado y actualizado que centralice la información de los eventos, impidiendo una interacción fluida y una participación óptima.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756" y="1782366"/>
            <a:ext cx="5652849" cy="565284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1272A0-5113-B446-FA42-852D5E095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83749" y="607177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Contexto del Proyecto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813650" y="1561710"/>
            <a:ext cx="3970972" cy="2920981"/>
          </a:xfrm>
          <a:prstGeom prst="roundRect">
            <a:avLst>
              <a:gd name="adj" fmla="val 10273"/>
            </a:avLst>
          </a:prstGeom>
          <a:solidFill>
            <a:srgbClr val="626C3B"/>
          </a:solidFill>
          <a:ln w="7620">
            <a:solidFill>
              <a:srgbClr val="F9D9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6157673" y="1828584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F9D933"/>
          </a:solidFill>
          <a:ln/>
        </p:spPr>
        <p:txBody>
          <a:bodyPr/>
          <a:lstStyle/>
          <a:p>
            <a:endParaRPr lang="es-E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436" y="1994892"/>
            <a:ext cx="260271" cy="2602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8842" y="195393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Marco Académico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183749" y="2573298"/>
            <a:ext cx="3281005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Desarrollado en el marco de la asignatura </a:t>
            </a:r>
            <a:r>
              <a:rPr lang="en-US" sz="20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Desarrollo de Sistemas de Información</a:t>
            </a: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0294381" y="1561710"/>
            <a:ext cx="3817756" cy="2920981"/>
          </a:xfrm>
          <a:prstGeom prst="roundRect">
            <a:avLst>
              <a:gd name="adj" fmla="val 10273"/>
            </a:avLst>
          </a:prstGeom>
          <a:solidFill>
            <a:srgbClr val="626C3B"/>
          </a:solidFill>
          <a:ln w="7620">
            <a:solidFill>
              <a:srgbClr val="F9D9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Shape 6"/>
          <p:cNvSpPr/>
          <p:nvPr/>
        </p:nvSpPr>
        <p:spPr>
          <a:xfrm>
            <a:off x="10441284" y="1780184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F9D9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7510" y="1966691"/>
            <a:ext cx="260271" cy="2602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96600" y="1828584"/>
            <a:ext cx="328112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Optimización de la Comunicación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0730487" y="2715777"/>
            <a:ext cx="3281124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Surge como una iniciativa clave para </a:t>
            </a:r>
            <a:r>
              <a:rPr lang="en-US" sz="20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optimizar la comunicación de eventos</a:t>
            </a: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dentro de la UCompensar.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6610707" y="4928839"/>
            <a:ext cx="6840874" cy="2274849"/>
          </a:xfrm>
          <a:prstGeom prst="roundRect">
            <a:avLst>
              <a:gd name="adj" fmla="val 13113"/>
            </a:avLst>
          </a:prstGeom>
          <a:solidFill>
            <a:srgbClr val="626C3B"/>
          </a:solidFill>
          <a:ln w="7620">
            <a:solidFill>
              <a:srgbClr val="F9D93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5" name="Shape 10"/>
          <p:cNvSpPr/>
          <p:nvPr/>
        </p:nvSpPr>
        <p:spPr>
          <a:xfrm>
            <a:off x="6777393" y="5127547"/>
            <a:ext cx="578406" cy="604603"/>
          </a:xfrm>
          <a:prstGeom prst="roundRect">
            <a:avLst>
              <a:gd name="adj" fmla="val 15807384"/>
            </a:avLst>
          </a:prstGeom>
          <a:solidFill>
            <a:srgbClr val="F9D9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6741" y="5273391"/>
            <a:ext cx="299710" cy="2997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5147" y="5273391"/>
            <a:ext cx="2615327" cy="346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Herramienta Accesible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019682" y="5823198"/>
            <a:ext cx="7155655" cy="710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Busca crear una herramienta tecnológica </a:t>
            </a:r>
            <a:r>
              <a:rPr lang="en-US" sz="2000" b="1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accesible, moderna y de fácil uso</a:t>
            </a:r>
            <a:r>
              <a:rPr lang="en-US" sz="20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toda la comunidad.</a:t>
            </a:r>
            <a:endParaRPr lang="en-US" sz="2000" dirty="0"/>
          </a:p>
        </p:txBody>
      </p:sp>
      <p:pic>
        <p:nvPicPr>
          <p:cNvPr id="1026" name="Picture 2" descr="Imagen de ">
            <a:extLst>
              <a:ext uri="{FF2B5EF4-FFF2-40B4-BE49-F238E27FC236}">
                <a16:creationId xmlns:a16="http://schemas.microsoft.com/office/drawing/2014/main" id="{4E0FF832-2A4B-0445-F2C5-E0BCD87F5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69607" y="-142241"/>
            <a:ext cx="8229600" cy="822960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2BF3327-831E-DE1B-FA5B-5AD399B703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94720" y="7270595"/>
            <a:ext cx="1935680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3971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04987" y="1040100"/>
            <a:ext cx="6298073" cy="58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Objetivos del Sistema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778697" y="2005577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Objetivo General: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Desarrollar un sistema web integral que centralice la gestión y difusión de eventos institucionales, mejorando la participación y el acceso a la información.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766539" y="3091945"/>
            <a:ext cx="3687485" cy="2208956"/>
          </a:xfrm>
          <a:prstGeom prst="roundRect">
            <a:avLst>
              <a:gd name="adj" fmla="val 5593"/>
            </a:avLst>
          </a:prstGeom>
          <a:solidFill>
            <a:srgbClr val="F6EBD4"/>
          </a:solidFill>
          <a:ln w="2286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6" name="Shape 3"/>
          <p:cNvSpPr/>
          <p:nvPr/>
        </p:nvSpPr>
        <p:spPr>
          <a:xfrm>
            <a:off x="5778697" y="3091945"/>
            <a:ext cx="102142" cy="2208956"/>
          </a:xfrm>
          <a:prstGeom prst="roundRect">
            <a:avLst>
              <a:gd name="adj" fmla="val 297674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400" dirty="0"/>
          </a:p>
        </p:txBody>
      </p:sp>
      <p:sp>
        <p:nvSpPr>
          <p:cNvPr id="7" name="Text 4"/>
          <p:cNvSpPr/>
          <p:nvPr/>
        </p:nvSpPr>
        <p:spPr>
          <a:xfrm>
            <a:off x="6085150" y="3281249"/>
            <a:ext cx="228361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Calendario Dinámico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90504" y="3580810"/>
            <a:ext cx="3210282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Implementar un calendario de eventos </a:t>
            </a:r>
            <a:r>
              <a:rPr lang="en-US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dinámico e interactivo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que permita a los usuarios visualizar y filtrar eventos fácilmente.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9967675" y="3093568"/>
            <a:ext cx="3687485" cy="2411644"/>
          </a:xfrm>
          <a:prstGeom prst="roundRect">
            <a:avLst>
              <a:gd name="adj" fmla="val 5593"/>
            </a:avLst>
          </a:prstGeom>
          <a:solidFill>
            <a:srgbClr val="F6EBD4"/>
          </a:solidFill>
          <a:ln w="2286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0" name="Shape 7"/>
          <p:cNvSpPr/>
          <p:nvPr/>
        </p:nvSpPr>
        <p:spPr>
          <a:xfrm>
            <a:off x="9967675" y="3091945"/>
            <a:ext cx="91440" cy="2411644"/>
          </a:xfrm>
          <a:prstGeom prst="roundRect">
            <a:avLst>
              <a:gd name="adj" fmla="val 297674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1" name="Text 8"/>
          <p:cNvSpPr/>
          <p:nvPr/>
        </p:nvSpPr>
        <p:spPr>
          <a:xfrm>
            <a:off x="10277052" y="3267671"/>
            <a:ext cx="269569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Administración Eficiente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277052" y="3580810"/>
            <a:ext cx="3210282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Permitir la administración completa de eventos mediante un </a:t>
            </a:r>
            <a:r>
              <a:rPr lang="en-US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panel CRUD (Crear, Leer, Actualizar, Borrar)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organizadores y personal autorizado.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725261" y="5788143"/>
            <a:ext cx="3801490" cy="2173828"/>
          </a:xfrm>
          <a:prstGeom prst="roundRect">
            <a:avLst>
              <a:gd name="adj" fmla="val 5593"/>
            </a:avLst>
          </a:prstGeom>
          <a:solidFill>
            <a:srgbClr val="F6EBD4"/>
          </a:solidFill>
          <a:ln w="2286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4" name="Shape 11"/>
          <p:cNvSpPr/>
          <p:nvPr/>
        </p:nvSpPr>
        <p:spPr>
          <a:xfrm>
            <a:off x="6725261" y="5806720"/>
            <a:ext cx="91440" cy="2137205"/>
          </a:xfrm>
          <a:prstGeom prst="roundRect">
            <a:avLst>
              <a:gd name="adj" fmla="val 297674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5" name="Text 12"/>
          <p:cNvSpPr/>
          <p:nvPr/>
        </p:nvSpPr>
        <p:spPr>
          <a:xfrm>
            <a:off x="6942972" y="5966191"/>
            <a:ext cx="30038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Interacción y Notificaciones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63862" y="6294508"/>
            <a:ext cx="3210282" cy="116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Facilitar la interacción de los usuarios a través de </a:t>
            </a:r>
            <a:r>
              <a:rPr lang="en-US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formularios de inscripción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comentarios y un sistema de </a:t>
            </a:r>
            <a:r>
              <a:rPr lang="en-US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notificaciones personalizadas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C032AC3-33C5-981E-7B8F-294C79A66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72361" y="423929"/>
            <a:ext cx="5285678" cy="8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problemas</a:t>
            </a:r>
            <a:endParaRPr lang="en-US" sz="4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4081" y="2762905"/>
            <a:ext cx="186328" cy="18632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4081" y="3508216"/>
            <a:ext cx="186328" cy="18632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4081" y="4253528"/>
            <a:ext cx="186328" cy="18632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521868" y="1415422"/>
            <a:ext cx="758666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Este árbol detalla cómo 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la poca difusión de eventos (problema 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central) es causada por la falta de canales y coordinación, lo que a su vez genera baja asistencia y desinterés en la comunidad.</a:t>
            </a:r>
            <a:endParaRPr lang="en-US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DA11B917-3E01-6D4C-6C8E-8C1F9A4506F7}"/>
              </a:ext>
            </a:extLst>
          </p:cNvPr>
          <p:cNvSpPr/>
          <p:nvPr/>
        </p:nvSpPr>
        <p:spPr>
          <a:xfrm>
            <a:off x="5936165" y="2801268"/>
            <a:ext cx="2758068" cy="8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EFECTOS</a:t>
            </a:r>
            <a:endParaRPr lang="en-US" sz="43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66B41B8-BFDE-8C8F-3018-C7A68D1B8E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  <p:pic>
        <p:nvPicPr>
          <p:cNvPr id="17" name="Imagen 16" descr="Diagrama&#10;&#10;El contenido generado por IA puede ser incorrecto.">
            <a:extLst>
              <a:ext uri="{FF2B5EF4-FFF2-40B4-BE49-F238E27FC236}">
                <a16:creationId xmlns:a16="http://schemas.microsoft.com/office/drawing/2014/main" id="{8BB08A43-A71D-3322-934F-97A8847738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1745" y="3508216"/>
            <a:ext cx="10566908" cy="4721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C5A7-0C82-6818-2732-FC1E95F0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FB8D485-31D2-58DD-A035-A66B94C041A7}"/>
              </a:ext>
            </a:extLst>
          </p:cNvPr>
          <p:cNvSpPr/>
          <p:nvPr/>
        </p:nvSpPr>
        <p:spPr>
          <a:xfrm>
            <a:off x="4672361" y="423929"/>
            <a:ext cx="5285678" cy="8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problemas</a:t>
            </a:r>
            <a:endParaRPr lang="en-US" sz="4350" dirty="0"/>
          </a:p>
        </p:txBody>
      </p:sp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975CF0D-1B1B-EBD3-CCAD-DF65C7B17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4081" y="2762905"/>
            <a:ext cx="186328" cy="186328"/>
          </a:xfrm>
          <a:prstGeom prst="rect">
            <a:avLst/>
          </a:prstGeom>
        </p:spPr>
      </p:pic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56785ECC-EF15-9DFA-4D5D-5FD54545FC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4081" y="3508216"/>
            <a:ext cx="186328" cy="186328"/>
          </a:xfrm>
          <a:prstGeom prst="rect">
            <a:avLst/>
          </a:prstGeom>
        </p:spPr>
      </p:pic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2DB50A3D-D7CD-3B07-256D-22437B2D53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4081" y="4253528"/>
            <a:ext cx="186328" cy="186328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D8E8D268-DE9F-B122-0421-1686DBEEAAAD}"/>
              </a:ext>
            </a:extLst>
          </p:cNvPr>
          <p:cNvSpPr/>
          <p:nvPr/>
        </p:nvSpPr>
        <p:spPr>
          <a:xfrm>
            <a:off x="3521868" y="1626738"/>
            <a:ext cx="758666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43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CAUSAS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D798D4A-EC7B-60D9-1AFB-70AE04C02D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890BD3A9-CCBF-490C-DCB5-0DFBF83431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8146" y="2131693"/>
            <a:ext cx="12143678" cy="59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9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14270" y="327007"/>
            <a:ext cx="4601859" cy="77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</a:t>
            </a:r>
            <a:r>
              <a:rPr lang="en-US" sz="405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Objetivos</a:t>
            </a:r>
            <a:endParaRPr lang="en-US" sz="4050" dirty="0"/>
          </a:p>
        </p:txBody>
      </p:sp>
      <p:sp>
        <p:nvSpPr>
          <p:cNvPr id="13" name="Text 9"/>
          <p:cNvSpPr/>
          <p:nvPr/>
        </p:nvSpPr>
        <p:spPr>
          <a:xfrm>
            <a:off x="3471623" y="1124555"/>
            <a:ext cx="7687151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El árbol de objetivos traza una ruta clara para alcanzar la 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mejora en la difusión de eventos, a través del fortalecimiento de canales y la implementación de un sistema digital, resultando en mayor participación y un impacto institucional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positivo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EDFE20F-CD49-722B-0339-BB4D5C22F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2635D5FE-7B42-CFE6-CE57-EC47792CF09A}"/>
              </a:ext>
            </a:extLst>
          </p:cNvPr>
          <p:cNvSpPr/>
          <p:nvPr/>
        </p:nvSpPr>
        <p:spPr>
          <a:xfrm>
            <a:off x="6536440" y="2566495"/>
            <a:ext cx="1557515" cy="77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FINES</a:t>
            </a:r>
            <a:endParaRPr lang="en-US" sz="4050" dirty="0"/>
          </a:p>
        </p:txBody>
      </p:sp>
      <p:pic>
        <p:nvPicPr>
          <p:cNvPr id="17" name="Imagen 16" descr="Diagrama&#10;&#10;El contenido generado por IA puede ser incorrecto.">
            <a:extLst>
              <a:ext uri="{FF2B5EF4-FFF2-40B4-BE49-F238E27FC236}">
                <a16:creationId xmlns:a16="http://schemas.microsoft.com/office/drawing/2014/main" id="{5833439A-F662-6D40-6E9E-05D492149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80" y="3204937"/>
            <a:ext cx="9396834" cy="49243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3212-9A63-EFB4-A175-285C1789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77EA709-850C-BF82-5E18-556AF515E153}"/>
              </a:ext>
            </a:extLst>
          </p:cNvPr>
          <p:cNvSpPr/>
          <p:nvPr/>
        </p:nvSpPr>
        <p:spPr>
          <a:xfrm>
            <a:off x="5014270" y="327007"/>
            <a:ext cx="4601859" cy="77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Árbol de </a:t>
            </a:r>
            <a:r>
              <a:rPr lang="en-US" sz="405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Objetivos</a:t>
            </a:r>
            <a:endParaRPr lang="en-US" sz="40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DE69DAD-4155-10FA-8F88-94BDCF410450}"/>
              </a:ext>
            </a:extLst>
          </p:cNvPr>
          <p:cNvSpPr/>
          <p:nvPr/>
        </p:nvSpPr>
        <p:spPr>
          <a:xfrm>
            <a:off x="3471623" y="1124555"/>
            <a:ext cx="7687151" cy="1331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endParaRPr lang="en-US" sz="1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7CA2763-8660-A36C-4A77-048773165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BFECE316-24BC-FE5E-D5EF-A655F23A1230}"/>
              </a:ext>
            </a:extLst>
          </p:cNvPr>
          <p:cNvSpPr/>
          <p:nvPr/>
        </p:nvSpPr>
        <p:spPr>
          <a:xfrm>
            <a:off x="6228866" y="1124555"/>
            <a:ext cx="2172662" cy="77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MEDIOS</a:t>
            </a:r>
            <a:endParaRPr lang="en-US" sz="405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6D46DEDF-3481-4BF8-EDEC-A7A5EDC2A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005" y="2086957"/>
            <a:ext cx="11270389" cy="603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46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0946" y="20281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6528" y="831400"/>
            <a:ext cx="5760720" cy="64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Partes </a:t>
            </a: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interesadas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939969" y="1926253"/>
            <a:ext cx="680442" cy="1252180"/>
          </a:xfrm>
          <a:prstGeom prst="roundRect">
            <a:avLst>
              <a:gd name="adj" fmla="val 360022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3200" dirty="0"/>
          </a:p>
        </p:txBody>
      </p:sp>
      <p:sp>
        <p:nvSpPr>
          <p:cNvPr id="5" name="Text 2"/>
          <p:cNvSpPr/>
          <p:nvPr/>
        </p:nvSpPr>
        <p:spPr>
          <a:xfrm>
            <a:off x="6152614" y="239285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790432" y="209627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Estudiantes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790432" y="2464058"/>
            <a:ext cx="67059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Receptores directos de los eventos. Su participación y retroalimentación son cruciales para el éxito y la relevancia del sistema.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39969" y="3348454"/>
            <a:ext cx="680442" cy="1252180"/>
          </a:xfrm>
          <a:prstGeom prst="roundRect">
            <a:avLst>
              <a:gd name="adj" fmla="val 360022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9" name="Text 6"/>
          <p:cNvSpPr/>
          <p:nvPr/>
        </p:nvSpPr>
        <p:spPr>
          <a:xfrm>
            <a:off x="6152614" y="381506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790432" y="3518475"/>
            <a:ext cx="26198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Docentes y Organizadores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790432" y="3886259"/>
            <a:ext cx="67059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Responsables de planificar, crear y ejecutar los eventos. Necesitan herramientas eficientes para gestionar sus actividades.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939969" y="4770656"/>
            <a:ext cx="680442" cy="1252180"/>
          </a:xfrm>
          <a:prstGeom prst="roundRect">
            <a:avLst>
              <a:gd name="adj" fmla="val 360022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13" name="Text 10"/>
          <p:cNvSpPr/>
          <p:nvPr/>
        </p:nvSpPr>
        <p:spPr>
          <a:xfrm>
            <a:off x="6152614" y="5237262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790432" y="494067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Área Administrativa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790432" y="5308461"/>
            <a:ext cx="67059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Proveerán los recursos necesarios y asegurarán la alineación del sistema con las políticas institucionales de la UCompensar.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939969" y="6192857"/>
            <a:ext cx="680442" cy="1252180"/>
          </a:xfrm>
          <a:prstGeom prst="roundRect">
            <a:avLst>
              <a:gd name="adj" fmla="val 360022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17" name="Text 14"/>
          <p:cNvSpPr/>
          <p:nvPr/>
        </p:nvSpPr>
        <p:spPr>
          <a:xfrm>
            <a:off x="6152614" y="665946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790432" y="636287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8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Comunidad Externa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790432" y="6730662"/>
            <a:ext cx="670595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Participantes potenciales que ampliarán el impacto y la visibilidad de la Fundación Universitaria Compensar a nivel local y nacional.</a:t>
            </a:r>
            <a:endParaRPr lang="en-US" sz="20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01FCAC63-A977-9915-889F-E84291818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92782" y="660577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Alternativas de solución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820158" y="1617483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Para abordar la problemática de la difusión de eventos, se consideraron diversas alternativas, evaluando su viabilidad y potencial impacto.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99605" y="3091694"/>
            <a:ext cx="3370302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1. </a:t>
            </a:r>
            <a:r>
              <a:rPr lang="es-E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Web App propia</a:t>
            </a:r>
            <a:endParaRPr lang="en-US" sz="32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99605" y="3678553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  <a:buSzPct val="100000"/>
            </a:pPr>
            <a:r>
              <a:rPr lang="es-E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Desarrollo de una plataforma web institucional para publicar, administrar y visualizar eventos académicos.</a:t>
            </a:r>
            <a:endParaRPr lang="en-US" sz="20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70994" y="3089306"/>
            <a:ext cx="352925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2. </a:t>
            </a:r>
            <a:r>
              <a:rPr lang="es-E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Sistema de recomendación personalizado</a:t>
            </a:r>
            <a:endParaRPr lang="en-US" sz="32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470993" y="4513754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  <a:buSzPct val="100000"/>
            </a:pPr>
            <a:r>
              <a:rPr lang="es-E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Implementar un sistema inteligente que recomiende eventos según intereses de los usuarios.</a:t>
            </a:r>
            <a:endParaRPr lang="en-US" sz="20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AF9F679-7CAF-7C19-CB16-7D02979FE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611070"/>
            <a:ext cx="2088356" cy="1602693"/>
          </a:xfrm>
          <a:prstGeom prst="rect">
            <a:avLst/>
          </a:prstGeom>
        </p:spPr>
      </p:pic>
      <p:sp>
        <p:nvSpPr>
          <p:cNvPr id="18" name="Text 2">
            <a:extLst>
              <a:ext uri="{FF2B5EF4-FFF2-40B4-BE49-F238E27FC236}">
                <a16:creationId xmlns:a16="http://schemas.microsoft.com/office/drawing/2014/main" id="{509A4B3F-1E2F-72EC-B50E-F6F4366F308F}"/>
              </a:ext>
            </a:extLst>
          </p:cNvPr>
          <p:cNvSpPr/>
          <p:nvPr/>
        </p:nvSpPr>
        <p:spPr>
          <a:xfrm>
            <a:off x="6228067" y="5860543"/>
            <a:ext cx="3370302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3. </a:t>
            </a:r>
            <a:r>
              <a:rPr lang="es-ES" sz="3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App móvil nativa</a:t>
            </a:r>
            <a:endParaRPr lang="en-US" sz="320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7B3B2AA-AB46-BEE6-EFF5-5630BFE0AAB3}"/>
              </a:ext>
            </a:extLst>
          </p:cNvPr>
          <p:cNvSpPr/>
          <p:nvPr/>
        </p:nvSpPr>
        <p:spPr>
          <a:xfrm>
            <a:off x="6228066" y="6393038"/>
            <a:ext cx="35292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  <a:buSzPct val="100000"/>
            </a:pPr>
            <a:r>
              <a:rPr lang="es-E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Aplicación exclusiva para Android/iOS enfocada en notificaciones y consultas rápidas de eventos.</a:t>
            </a:r>
            <a:endParaRPr lang="en-US" sz="2000" dirty="0">
              <a:solidFill>
                <a:srgbClr val="403011"/>
              </a:solidFill>
              <a:latin typeface="Brygada 1918" pitchFamily="34" charset="0"/>
              <a:ea typeface="Brygada 1918" pitchFamily="34" charset="-122"/>
            </a:endParaRPr>
          </a:p>
        </p:txBody>
      </p:sp>
      <p:pic>
        <p:nvPicPr>
          <p:cNvPr id="22" name="Imagen 21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BF0E56AC-E284-80C0-90CE-E38900ED3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43463" y="-479155"/>
            <a:ext cx="9043068" cy="904306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4892"/>
            <a:ext cx="127484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s-E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Selección de Alternativa (Tabla de Decisión)</a:t>
            </a:r>
            <a:endParaRPr lang="en-US" sz="4450" dirty="0">
              <a:solidFill>
                <a:srgbClr val="403011"/>
              </a:solidFill>
              <a:latin typeface="Brygada 1918 Semi Bold" pitchFamily="34" charset="0"/>
              <a:ea typeface="Brygada 1918 Semi Bold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170" y="15744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Tras un análisis exhaustivo, se determinó que la creación de un sistema web propio de gestión de eventos es la solución más estratégica y efectiva.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104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01410" y="70916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Motivo de la Selección: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Esta 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alternativa ofrece </a:t>
            </a:r>
            <a:r>
              <a:rPr lang="en-US" sz="20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el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mayor control, personalización y una </a:t>
            </a:r>
            <a:r>
              <a:rPr lang="en-US" sz="20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alineación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perfecta con los objetivos institucionales de la UCompensar, garantizando una solución robusta y sostenible a largo </a:t>
            </a:r>
            <a:r>
              <a:rPr lang="en-US" sz="20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plazo</a:t>
            </a: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.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5677EF0-5C5B-D8DC-0760-78CC339D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  <p:pic>
        <p:nvPicPr>
          <p:cNvPr id="33" name="Imagen 32" descr="Tabla&#10;&#10;El contenido generado por IA puede ser incorrecto.">
            <a:extLst>
              <a:ext uri="{FF2B5EF4-FFF2-40B4-BE49-F238E27FC236}">
                <a16:creationId xmlns:a16="http://schemas.microsoft.com/office/drawing/2014/main" id="{25A2D12A-EB91-3471-801C-1023B4EDE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68" t="3314" r="2578" b="4644"/>
          <a:stretch>
            <a:fillRect/>
          </a:stretch>
        </p:blipFill>
        <p:spPr>
          <a:xfrm>
            <a:off x="3373244" y="2300228"/>
            <a:ext cx="7883912" cy="46580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959" y="493871"/>
            <a:ext cx="551161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Requerimientos</a:t>
            </a: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Funcionales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21149" y="1839993"/>
            <a:ext cx="79296" cy="79296"/>
          </a:xfrm>
          <a:prstGeom prst="roundRect">
            <a:avLst>
              <a:gd name="adj" fmla="val 576574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4" name="Text 2"/>
          <p:cNvSpPr/>
          <p:nvPr/>
        </p:nvSpPr>
        <p:spPr>
          <a:xfrm>
            <a:off x="859155" y="1755696"/>
            <a:ext cx="33862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RF-01: Registro y Gestión de Eventos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9155" y="2162414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Facilitar la creación, edición y eliminación (CRUD) de eventos para mantener el calendario actualizado.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1149" y="3072409"/>
            <a:ext cx="79296" cy="79296"/>
          </a:xfrm>
          <a:prstGeom prst="roundRect">
            <a:avLst>
              <a:gd name="adj" fmla="val 576574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7" name="Text 5"/>
          <p:cNvSpPr/>
          <p:nvPr/>
        </p:nvSpPr>
        <p:spPr>
          <a:xfrm>
            <a:off x="859155" y="2988112"/>
            <a:ext cx="264116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RF-03: Calendario Dinámico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149" y="4215051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0" name="Text 8"/>
          <p:cNvSpPr/>
          <p:nvPr/>
        </p:nvSpPr>
        <p:spPr>
          <a:xfrm>
            <a:off x="859155" y="4130755"/>
            <a:ext cx="378118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RF-04: Gestión de Etiquetas y Categorías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155" y="4537472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Permitir la organización de eventos mediante categorías y etiquetas para una mejor búsqueda.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149" y="5447467"/>
            <a:ext cx="79296" cy="79296"/>
          </a:xfrm>
          <a:prstGeom prst="roundRect">
            <a:avLst>
              <a:gd name="adj" fmla="val 576574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3" name="Text 11"/>
          <p:cNvSpPr/>
          <p:nvPr/>
        </p:nvSpPr>
        <p:spPr>
          <a:xfrm>
            <a:off x="859155" y="5363171"/>
            <a:ext cx="232922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RF-05: Control de Acceso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9155" y="5769888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Administrar permisos para usuarios y administradores, asegurando la seguridad de los datos.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1149" y="6679883"/>
            <a:ext cx="79296" cy="79296"/>
          </a:xfrm>
          <a:prstGeom prst="roundRect">
            <a:avLst>
              <a:gd name="adj" fmla="val 576574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6" name="Text 14"/>
          <p:cNvSpPr/>
          <p:nvPr/>
        </p:nvSpPr>
        <p:spPr>
          <a:xfrm>
            <a:off x="859155" y="6595587"/>
            <a:ext cx="287226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RF-06: Formulario de Contacto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9155" y="7002304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Proporcionar un canal de comunicación para consultas y sugerencias de los usuarios.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343775" y="1839993"/>
            <a:ext cx="79296" cy="79296"/>
          </a:xfrm>
          <a:prstGeom prst="roundRect">
            <a:avLst>
              <a:gd name="adj" fmla="val 576574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9" name="Text 17"/>
          <p:cNvSpPr/>
          <p:nvPr/>
        </p:nvSpPr>
        <p:spPr>
          <a:xfrm>
            <a:off x="7581781" y="1755696"/>
            <a:ext cx="278522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RF-07: Notificaciones Visuales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43775" y="3039566"/>
            <a:ext cx="79296" cy="79296"/>
          </a:xfrm>
          <a:prstGeom prst="roundRect">
            <a:avLst>
              <a:gd name="adj" fmla="val 576574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2" name="Text 20"/>
          <p:cNvSpPr/>
          <p:nvPr/>
        </p:nvSpPr>
        <p:spPr>
          <a:xfrm>
            <a:off x="7581781" y="2955270"/>
            <a:ext cx="374701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RF-08: Autogeneración de Base de Datos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43775" y="4318042"/>
            <a:ext cx="79296" cy="79296"/>
          </a:xfrm>
          <a:prstGeom prst="roundRect">
            <a:avLst>
              <a:gd name="adj" fmla="val 576574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5" name="Text 23"/>
          <p:cNvSpPr/>
          <p:nvPr/>
        </p:nvSpPr>
        <p:spPr>
          <a:xfrm>
            <a:off x="7581781" y="4233746"/>
            <a:ext cx="226040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RF-09: Sesiones Seguras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81781" y="4640463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Garantizar la protección de las sesiones de usuario con mecanismos de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seguridad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avanzados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.</a:t>
            </a:r>
          </a:p>
        </p:txBody>
      </p:sp>
      <p:sp>
        <p:nvSpPr>
          <p:cNvPr id="27" name="Shape 25"/>
          <p:cNvSpPr/>
          <p:nvPr/>
        </p:nvSpPr>
        <p:spPr>
          <a:xfrm>
            <a:off x="7343775" y="5550458"/>
            <a:ext cx="79296" cy="79296"/>
          </a:xfrm>
          <a:prstGeom prst="roundRect">
            <a:avLst>
              <a:gd name="adj" fmla="val 576574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8" name="Text 26"/>
          <p:cNvSpPr/>
          <p:nvPr/>
        </p:nvSpPr>
        <p:spPr>
          <a:xfrm>
            <a:off x="7581781" y="5466161"/>
            <a:ext cx="234529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RF-10: Respaldo de Datos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581781" y="5872879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Implementar respaldos periódicos con MySQL para prevenir la pérdida de información.</a:t>
            </a:r>
            <a:endParaRPr lang="en-US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D7438FB-6E31-16A1-6E3E-18477D70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B9D8A1D3-417C-E255-5BC8-DEB854279FB7}"/>
              </a:ext>
            </a:extLst>
          </p:cNvPr>
          <p:cNvSpPr/>
          <p:nvPr/>
        </p:nvSpPr>
        <p:spPr>
          <a:xfrm>
            <a:off x="859155" y="3394829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Ofrecer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visualización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interactiva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eventos con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filtros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personalizables</a:t>
            </a:r>
            <a:endParaRPr lang="en-US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153DD6D7-BEE3-C0A4-F22E-7CF58CF160F8}"/>
              </a:ext>
            </a:extLst>
          </p:cNvPr>
          <p:cNvSpPr/>
          <p:nvPr/>
        </p:nvSpPr>
        <p:spPr>
          <a:xfrm>
            <a:off x="7581781" y="2158367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Implementar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alertas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interactivas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 Sweet Alert 2 para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mejor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experiencia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dirty="0"/>
          </a:p>
          <a:p>
            <a:pPr marL="0" indent="0" algn="l">
              <a:lnSpc>
                <a:spcPts val="2000"/>
              </a:lnSpc>
              <a:buNone/>
            </a:pPr>
            <a:endParaRPr lang="en-US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80951EC2-6612-B6C9-7287-452EDBAEDFFD}"/>
              </a:ext>
            </a:extLst>
          </p:cNvPr>
          <p:cNvSpPr/>
          <p:nvPr/>
        </p:nvSpPr>
        <p:spPr>
          <a:xfrm>
            <a:off x="7581781" y="3355586"/>
            <a:ext cx="608980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Automatizar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la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creación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de la base de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datos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y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tablas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al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iniciar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el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 </a:t>
            </a:r>
            <a:r>
              <a:rPr lang="en-US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sistema</a:t>
            </a: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.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5641" y="591145"/>
            <a:ext cx="751171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Requerimientos</a:t>
            </a: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 </a:t>
            </a: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funcionales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0" y="1644729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4" name="Shape 2"/>
          <p:cNvSpPr/>
          <p:nvPr/>
        </p:nvSpPr>
        <p:spPr>
          <a:xfrm>
            <a:off x="778550" y="1644729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5" name="Text 3"/>
          <p:cNvSpPr/>
          <p:nvPr/>
        </p:nvSpPr>
        <p:spPr>
          <a:xfrm>
            <a:off x="1002149" y="1807369"/>
            <a:ext cx="312312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RF-11: Filtrado Avanzado de Eventos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2149" y="2126099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Permitir a los usuarios filtrar eventos por tipo, fecha o facultad para encontrar información relevante rápidamente.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88900" y="1644729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8" name="Shape 6"/>
          <p:cNvSpPr/>
          <p:nvPr/>
        </p:nvSpPr>
        <p:spPr>
          <a:xfrm>
            <a:off x="7373660" y="1644729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9" name="Text 7"/>
          <p:cNvSpPr/>
          <p:nvPr/>
        </p:nvSpPr>
        <p:spPr>
          <a:xfrm>
            <a:off x="7597259" y="1807369"/>
            <a:ext cx="296620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RF-12: Notificaciones Automáticas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97259" y="2126099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Enviar avisos por correo electrónico o a través del panel de usuario sobre eventos importantes y cambios.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3790" y="2907625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2" name="Shape 10"/>
          <p:cNvSpPr/>
          <p:nvPr/>
        </p:nvSpPr>
        <p:spPr>
          <a:xfrm>
            <a:off x="778550" y="2907625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3" name="Text 11"/>
          <p:cNvSpPr/>
          <p:nvPr/>
        </p:nvSpPr>
        <p:spPr>
          <a:xfrm>
            <a:off x="1002149" y="3070265"/>
            <a:ext cx="281570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RF-13: Estadísticas de Asistencia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2149" y="3388995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Generar informes detallados sobre la participación en eventos, útil para docentes y organizadores.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88900" y="2907625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CC914D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6" name="Shape 14"/>
          <p:cNvSpPr/>
          <p:nvPr/>
        </p:nvSpPr>
        <p:spPr>
          <a:xfrm>
            <a:off x="7373660" y="2907625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7" name="Text 15"/>
          <p:cNvSpPr/>
          <p:nvPr/>
        </p:nvSpPr>
        <p:spPr>
          <a:xfrm>
            <a:off x="7597259" y="3070265"/>
            <a:ext cx="202727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RF-14: Gestión de Roles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93790" y="4170521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20" name="Shape 18"/>
          <p:cNvSpPr/>
          <p:nvPr/>
        </p:nvSpPr>
        <p:spPr>
          <a:xfrm>
            <a:off x="778550" y="4170521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1" name="Text 19"/>
          <p:cNvSpPr/>
          <p:nvPr/>
        </p:nvSpPr>
        <p:spPr>
          <a:xfrm>
            <a:off x="1002149" y="4333161"/>
            <a:ext cx="232576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RF-15: Búsqueda Avanzada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2149" y="4651891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Proporcionar herramientas de búsqueda potente para localizar eventos de manera eficiente.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88900" y="4170521"/>
            <a:ext cx="6447711" cy="1115497"/>
          </a:xfrm>
          <a:prstGeom prst="roundRect">
            <a:avLst>
              <a:gd name="adj" fmla="val 6558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s-ES" sz="2800" dirty="0"/>
          </a:p>
        </p:txBody>
      </p:sp>
      <p:sp>
        <p:nvSpPr>
          <p:cNvPr id="24" name="Shape 22"/>
          <p:cNvSpPr/>
          <p:nvPr/>
        </p:nvSpPr>
        <p:spPr>
          <a:xfrm>
            <a:off x="7373660" y="4170521"/>
            <a:ext cx="60960" cy="1115497"/>
          </a:xfrm>
          <a:prstGeom prst="roundRect">
            <a:avLst>
              <a:gd name="adj" fmla="val 36279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5" name="Text 23"/>
          <p:cNvSpPr/>
          <p:nvPr/>
        </p:nvSpPr>
        <p:spPr>
          <a:xfrm>
            <a:off x="7597259" y="4333161"/>
            <a:ext cx="2725817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RF-16: Exportación de Reportes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97259" y="4651891"/>
            <a:ext cx="607671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3790" y="5433417"/>
            <a:ext cx="6447711" cy="1027152"/>
          </a:xfrm>
          <a:prstGeom prst="roundRect">
            <a:avLst>
              <a:gd name="adj" fmla="val 8315"/>
            </a:avLst>
          </a:prstGeom>
          <a:solidFill>
            <a:srgbClr val="F6EBD4"/>
          </a:solidFill>
          <a:ln w="1524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28" name="Shape 26"/>
          <p:cNvSpPr/>
          <p:nvPr/>
        </p:nvSpPr>
        <p:spPr>
          <a:xfrm>
            <a:off x="778550" y="5433417"/>
            <a:ext cx="45719" cy="1027152"/>
          </a:xfrm>
          <a:prstGeom prst="roundRect">
            <a:avLst>
              <a:gd name="adj" fmla="val 36279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9" name="Text 27"/>
          <p:cNvSpPr/>
          <p:nvPr/>
        </p:nvSpPr>
        <p:spPr>
          <a:xfrm>
            <a:off x="1002149" y="5596057"/>
            <a:ext cx="30596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RF-17: Recuperación de Contraseña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88900" y="5433417"/>
            <a:ext cx="6447711" cy="1011492"/>
          </a:xfrm>
          <a:prstGeom prst="roundRect">
            <a:avLst>
              <a:gd name="adj" fmla="val 8315"/>
            </a:avLst>
          </a:prstGeom>
          <a:solidFill>
            <a:srgbClr val="F6EBD4"/>
          </a:solidFill>
          <a:ln w="15240">
            <a:solidFill>
              <a:srgbClr val="CC914D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32" name="Shape 30"/>
          <p:cNvSpPr/>
          <p:nvPr/>
        </p:nvSpPr>
        <p:spPr>
          <a:xfrm>
            <a:off x="7373660" y="5433417"/>
            <a:ext cx="94144" cy="1011492"/>
          </a:xfrm>
          <a:prstGeom prst="roundRect">
            <a:avLst>
              <a:gd name="adj" fmla="val 362790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3" name="Text 31"/>
          <p:cNvSpPr/>
          <p:nvPr/>
        </p:nvSpPr>
        <p:spPr>
          <a:xfrm>
            <a:off x="7597259" y="5596057"/>
            <a:ext cx="301001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RF-18: Comentarios y Valoraciones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93790" y="6584871"/>
            <a:ext cx="6447711" cy="1053584"/>
          </a:xfrm>
          <a:prstGeom prst="roundRect">
            <a:avLst>
              <a:gd name="adj" fmla="val 8315"/>
            </a:avLst>
          </a:prstGeom>
          <a:solidFill>
            <a:srgbClr val="F6EBD4"/>
          </a:solidFill>
          <a:ln w="1524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36" name="Shape 34"/>
          <p:cNvSpPr/>
          <p:nvPr/>
        </p:nvSpPr>
        <p:spPr>
          <a:xfrm>
            <a:off x="778550" y="6607967"/>
            <a:ext cx="91440" cy="1030487"/>
          </a:xfrm>
          <a:prstGeom prst="roundRect">
            <a:avLst>
              <a:gd name="adj" fmla="val 36279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7" name="Text 35"/>
          <p:cNvSpPr/>
          <p:nvPr/>
        </p:nvSpPr>
        <p:spPr>
          <a:xfrm>
            <a:off x="1005779" y="6747511"/>
            <a:ext cx="254591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RF-19: Calendario Interactivo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388900" y="6584871"/>
            <a:ext cx="6447711" cy="1053584"/>
          </a:xfrm>
          <a:prstGeom prst="roundRect">
            <a:avLst>
              <a:gd name="adj" fmla="val 8315"/>
            </a:avLst>
          </a:prstGeom>
          <a:solidFill>
            <a:srgbClr val="F6EBD4"/>
          </a:solidFill>
          <a:ln w="1524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40" name="Shape 38"/>
          <p:cNvSpPr/>
          <p:nvPr/>
        </p:nvSpPr>
        <p:spPr>
          <a:xfrm>
            <a:off x="7406844" y="6590779"/>
            <a:ext cx="60960" cy="1047675"/>
          </a:xfrm>
          <a:prstGeom prst="roundRect">
            <a:avLst>
              <a:gd name="adj" fmla="val 36279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41" name="Text 39"/>
          <p:cNvSpPr/>
          <p:nvPr/>
        </p:nvSpPr>
        <p:spPr>
          <a:xfrm>
            <a:off x="7597259" y="6747511"/>
            <a:ext cx="212836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RF-20: Eventos Favoritos</a:t>
            </a:r>
            <a:endParaRPr lang="en-US" sz="20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3FEFFEB7-7D6D-ADDA-3586-AE5B0C54656F}"/>
              </a:ext>
            </a:extLst>
          </p:cNvPr>
          <p:cNvSpPr/>
          <p:nvPr/>
        </p:nvSpPr>
        <p:spPr>
          <a:xfrm>
            <a:off x="1002149" y="5815488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Facilitar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un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proceso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seguro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</a:rPr>
              <a:t>restablecimiento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contraseñas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vía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correo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electrónico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39B4D85B-DD87-1490-7A9A-716AAB1A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  <p:sp>
        <p:nvSpPr>
          <p:cNvPr id="45" name="Text 20">
            <a:extLst>
              <a:ext uri="{FF2B5EF4-FFF2-40B4-BE49-F238E27FC236}">
                <a16:creationId xmlns:a16="http://schemas.microsoft.com/office/drawing/2014/main" id="{42C4AE29-34F9-E032-29EB-0F29DC67FD67}"/>
              </a:ext>
            </a:extLst>
          </p:cNvPr>
          <p:cNvSpPr/>
          <p:nvPr/>
        </p:nvSpPr>
        <p:spPr>
          <a:xfrm>
            <a:off x="1002149" y="6977897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Ofrecer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una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interfaz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visual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amigable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explorar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y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gestionar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eventos.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87FA6E28-A45E-0975-8E9D-10019BC57B45}"/>
              </a:ext>
            </a:extLst>
          </p:cNvPr>
          <p:cNvSpPr/>
          <p:nvPr/>
        </p:nvSpPr>
        <p:spPr>
          <a:xfrm>
            <a:off x="7597259" y="3329908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Configurar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diferentes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niveles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acceso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y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permisos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del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sistema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BB869A80-64F2-3757-8281-E67D7425662B}"/>
              </a:ext>
            </a:extLst>
          </p:cNvPr>
          <p:cNvSpPr/>
          <p:nvPr/>
        </p:nvSpPr>
        <p:spPr>
          <a:xfrm>
            <a:off x="7593440" y="4618498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Permitir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descarga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informes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eventos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formatos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PDF o Excel para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análisis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3D400713-7D69-E536-CEE0-F301F3A909F0}"/>
              </a:ext>
            </a:extLst>
          </p:cNvPr>
          <p:cNvSpPr/>
          <p:nvPr/>
        </p:nvSpPr>
        <p:spPr>
          <a:xfrm>
            <a:off x="7613851" y="5861093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Habilitar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opinar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y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calificar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eventos,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mejorando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interacción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794835BB-93AB-F9B5-195A-7081501E2F11}"/>
              </a:ext>
            </a:extLst>
          </p:cNvPr>
          <p:cNvSpPr/>
          <p:nvPr/>
        </p:nvSpPr>
        <p:spPr>
          <a:xfrm>
            <a:off x="7616283" y="6985024"/>
            <a:ext cx="607671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Permitir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marcar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eventos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interés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un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acceso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rápido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8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4034" y="487257"/>
            <a:ext cx="69340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Requerimientos No </a:t>
            </a:r>
            <a:r>
              <a:rPr lang="en-US" sz="44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Funcionales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0" y="1764863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" name="Text 2"/>
          <p:cNvSpPr/>
          <p:nvPr/>
        </p:nvSpPr>
        <p:spPr>
          <a:xfrm>
            <a:off x="861774" y="17988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83506" y="182713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RNF-01: Usabilidad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83506" y="2292072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Tiempo de aprendizaje menor a 30 minutos.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93790" y="2945249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8" name="Text 6"/>
          <p:cNvSpPr/>
          <p:nvPr/>
        </p:nvSpPr>
        <p:spPr>
          <a:xfrm>
            <a:off x="861774" y="29792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83506" y="3007519"/>
            <a:ext cx="236993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RNF-02: Confiabilidad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83506" y="3472458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Tasa de error inferior al 1%.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3790" y="4125635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861774" y="415962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83506" y="4187904"/>
            <a:ext cx="258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RNF-03: Compatibilidad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83506" y="4652843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Funcionalidad óptima en navegadores principales.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3790" y="5306020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6" name="Text 14"/>
          <p:cNvSpPr/>
          <p:nvPr/>
        </p:nvSpPr>
        <p:spPr>
          <a:xfrm>
            <a:off x="861774" y="534001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83506" y="536829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RNF-04: Idioma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83506" y="5833229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Interfaz en español por defecto para todos los usuarios.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93790" y="6486406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0" name="Text 18"/>
          <p:cNvSpPr/>
          <p:nvPr/>
        </p:nvSpPr>
        <p:spPr>
          <a:xfrm>
            <a:off x="861774" y="65203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83506" y="654867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RNF-05: Seguridad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3506" y="7013615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Protección mediante HTTPS y autenticación robusta.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544157" y="1764863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4" name="Text 22"/>
          <p:cNvSpPr/>
          <p:nvPr/>
        </p:nvSpPr>
        <p:spPr>
          <a:xfrm>
            <a:off x="7612142" y="179885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3874" y="1827133"/>
            <a:ext cx="309764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RNF-06: Copias de Seguridad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33874" y="2292072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Respaldo incremental diario de toda la información.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544157" y="2945249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28" name="Text 26"/>
          <p:cNvSpPr/>
          <p:nvPr/>
        </p:nvSpPr>
        <p:spPr>
          <a:xfrm>
            <a:off x="7612142" y="297924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133874" y="3007519"/>
            <a:ext cx="24722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RNF-07: Disponibilidad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133874" y="3472458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Operación ininterrumpida el 99.9% del tiempo.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544157" y="4125635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2" name="Text 30"/>
          <p:cNvSpPr/>
          <p:nvPr/>
        </p:nvSpPr>
        <p:spPr>
          <a:xfrm>
            <a:off x="7612142" y="415962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133874" y="418790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RNF-08: Capacidad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33874" y="4652843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Base de datos con al menos 1 TB de almacenamiento.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544157" y="5306020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36" name="Text 34"/>
          <p:cNvSpPr/>
          <p:nvPr/>
        </p:nvSpPr>
        <p:spPr>
          <a:xfrm>
            <a:off x="7612142" y="534001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3874" y="5368290"/>
            <a:ext cx="317515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RNF-09: Tiempo de Respuesta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133874" y="5833229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Acciones completadas en menos de 3 segundos.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544157" y="6486406"/>
            <a:ext cx="408265" cy="408265"/>
          </a:xfrm>
          <a:prstGeom prst="roundRect">
            <a:avLst>
              <a:gd name="adj" fmla="val 66671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40" name="Text 38"/>
          <p:cNvSpPr/>
          <p:nvPr/>
        </p:nvSpPr>
        <p:spPr>
          <a:xfrm>
            <a:off x="7612142" y="65203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133874" y="654867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RNF-10: Eficiencia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133874" y="7013615"/>
            <a:ext cx="571035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Consumo de RAM inferior a 100 MB por sesión.</a:t>
            </a:r>
            <a:endParaRPr lang="en-US" dirty="0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0529DA3B-9AF5-5D87-24E6-3F0DA4E2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9404" y="474539"/>
            <a:ext cx="8847892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Requerimientos No </a:t>
            </a:r>
            <a:r>
              <a:rPr lang="en-US" sz="40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Funcionales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55809" y="1221105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2488" y="1317784"/>
            <a:ext cx="158115" cy="1581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809" y="1689854"/>
            <a:ext cx="1666756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RNF-11: Código Modular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55809" y="1943100"/>
            <a:ext cx="6376035" cy="37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Desarrollo de un código limpio, estructurado y bien documentado para facilitar su mantenimiento y futuras expansiones.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98556" y="1221105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5235" y="1317784"/>
            <a:ext cx="158115" cy="1581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556" y="1689854"/>
            <a:ext cx="1464945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RNF-12: Portabilidad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498556" y="1945080"/>
            <a:ext cx="12670259" cy="652464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Implementación de Docker para asegurar que el sistema pueda desplegarse fácilmente en diferentes entornos.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55809" y="2684621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488" y="2781300"/>
            <a:ext cx="158115" cy="1581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5809" y="3153370"/>
            <a:ext cx="1717477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RNF-13: Cifrado de Datos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55809" y="3406616"/>
            <a:ext cx="6376035" cy="37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Protección de la información sensible mediante cifrado en tránsito y en reposo, cumpliendo con estándares de seguridad.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98556" y="2684621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5235" y="2781300"/>
            <a:ext cx="158115" cy="1581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556" y="3153370"/>
            <a:ext cx="1941195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RNF-14: Auditoría Completa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498556" y="3406616"/>
            <a:ext cx="10858024" cy="697706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Registro de todas las acciones de usuario con marca de tiempo para trazabilidad y control.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755809" y="4148138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2488" y="4244816"/>
            <a:ext cx="158115" cy="1581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5809" y="4616887"/>
            <a:ext cx="1520428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RNF-15: Concurrencia</a:t>
            </a:r>
            <a:endParaRPr lang="en-US" sz="2400" dirty="0"/>
          </a:p>
        </p:txBody>
      </p:sp>
      <p:sp>
        <p:nvSpPr>
          <p:cNvPr id="27" name="Text 20"/>
          <p:cNvSpPr/>
          <p:nvPr/>
        </p:nvSpPr>
        <p:spPr>
          <a:xfrm>
            <a:off x="755808" y="4870133"/>
            <a:ext cx="12670259" cy="765214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Soporte para hasta 500 usuarios simultáneos, garantizando un rendimiento estable bajo carga.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498556" y="4148138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95235" y="4244816"/>
            <a:ext cx="158115" cy="1581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98556" y="4616887"/>
            <a:ext cx="1464945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RNF-16: Resiliencia</a:t>
            </a:r>
            <a:endParaRPr lang="en-US" sz="2400" dirty="0"/>
          </a:p>
        </p:txBody>
      </p:sp>
      <p:sp>
        <p:nvSpPr>
          <p:cNvPr id="32" name="Text 24"/>
          <p:cNvSpPr/>
          <p:nvPr/>
        </p:nvSpPr>
        <p:spPr>
          <a:xfrm>
            <a:off x="7498556" y="4870132"/>
            <a:ext cx="10858024" cy="483869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Capacidad del sistema para recuperarse automáticamente de fallos y mantener su operación.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755809" y="5424249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s-ES" sz="4000" dirty="0">
              <a:solidFill>
                <a:schemeClr val="bg1"/>
              </a:solidFill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2488" y="5520928"/>
            <a:ext cx="158115" cy="15811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5809" y="5892998"/>
            <a:ext cx="2428875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RNF-17: Escalabilidad a Largo Plazo</a:t>
            </a:r>
            <a:endParaRPr lang="en-US" sz="2400" dirty="0"/>
          </a:p>
        </p:txBody>
      </p:sp>
      <p:sp>
        <p:nvSpPr>
          <p:cNvPr id="37" name="Text 28"/>
          <p:cNvSpPr/>
          <p:nvPr/>
        </p:nvSpPr>
        <p:spPr>
          <a:xfrm>
            <a:off x="755809" y="6146244"/>
            <a:ext cx="12525293" cy="483870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Preparación para gestionar 5 años de datos históricos, asegurando la capacidad de crecimiento.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7498556" y="5424249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95235" y="5520928"/>
            <a:ext cx="158115" cy="15811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498556" y="5892998"/>
            <a:ext cx="2343150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RNF-18: Cumplimiento Normativo</a:t>
            </a:r>
            <a:endParaRPr lang="en-US" sz="2400" dirty="0"/>
          </a:p>
        </p:txBody>
      </p:sp>
      <p:sp>
        <p:nvSpPr>
          <p:cNvPr id="42" name="Text 32"/>
          <p:cNvSpPr/>
          <p:nvPr/>
        </p:nvSpPr>
        <p:spPr>
          <a:xfrm>
            <a:off x="7498556" y="6146243"/>
            <a:ext cx="10858024" cy="862251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Adhesión a la Ley 1581 de 2012 (Habeas Data) para la protección de datos personales.</a:t>
            </a:r>
            <a:endParaRPr lang="en-US" sz="1600" dirty="0"/>
          </a:p>
        </p:txBody>
      </p:sp>
      <p:sp>
        <p:nvSpPr>
          <p:cNvPr id="44" name="Shape 34"/>
          <p:cNvSpPr/>
          <p:nvPr/>
        </p:nvSpPr>
        <p:spPr>
          <a:xfrm>
            <a:off x="755809" y="6700361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s-ES" sz="4000">
              <a:solidFill>
                <a:schemeClr val="bg1"/>
              </a:solidFill>
            </a:endParaRPr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2488" y="6797040"/>
            <a:ext cx="158115" cy="158115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55809" y="7169110"/>
            <a:ext cx="2239804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RNF-19: Control de Rendimiento</a:t>
            </a:r>
            <a:endParaRPr lang="en-US" sz="2400" dirty="0"/>
          </a:p>
        </p:txBody>
      </p:sp>
      <p:sp>
        <p:nvSpPr>
          <p:cNvPr id="47" name="Text 36"/>
          <p:cNvSpPr/>
          <p:nvPr/>
        </p:nvSpPr>
        <p:spPr>
          <a:xfrm>
            <a:off x="755809" y="7422355"/>
            <a:ext cx="12380328" cy="674967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Monitoreo constante para garantizar un desempeño óptimo incluso con una alta demanda.</a:t>
            </a:r>
            <a:endParaRPr lang="en-US" sz="1600" dirty="0"/>
          </a:p>
        </p:txBody>
      </p:sp>
      <p:sp>
        <p:nvSpPr>
          <p:cNvPr id="49" name="Shape 38"/>
          <p:cNvSpPr/>
          <p:nvPr/>
        </p:nvSpPr>
        <p:spPr>
          <a:xfrm>
            <a:off x="7498556" y="6700361"/>
            <a:ext cx="351592" cy="351592"/>
          </a:xfrm>
          <a:prstGeom prst="roundRect">
            <a:avLst>
              <a:gd name="adj" fmla="val 26004817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s-ES" sz="400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595235" y="6797040"/>
            <a:ext cx="158115" cy="158115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498556" y="7169110"/>
            <a:ext cx="2345412" cy="182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RNF-20: Mantenimiento Continuo</a:t>
            </a:r>
            <a:endParaRPr lang="en-US" sz="2400" dirty="0"/>
          </a:p>
        </p:txBody>
      </p:sp>
      <p:sp>
        <p:nvSpPr>
          <p:cNvPr id="52" name="Text 40"/>
          <p:cNvSpPr/>
          <p:nvPr/>
        </p:nvSpPr>
        <p:spPr>
          <a:xfrm>
            <a:off x="7498556" y="7422356"/>
            <a:ext cx="10858024" cy="578644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Disponibilidad de soporte técnico y actualizaciones periódicas para la evolución del sistema.</a:t>
            </a:r>
            <a:endParaRPr lang="en-U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A439DF-4527-A279-6B63-C3DCBF58378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3491" y="347186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Casos de Uso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10626401" y="2605133"/>
            <a:ext cx="1469231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Actores Principales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467195" y="3102522"/>
            <a:ext cx="3416983" cy="44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Estudiante: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Participa en eventos, marca asistencia.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67195" y="3416697"/>
            <a:ext cx="3175779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Docente: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Marca asistencia, gestiona eventos.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67194" y="3765989"/>
            <a:ext cx="3416983" cy="35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Administrador: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Gestiona eventos, genera reportes.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467193" y="4136205"/>
            <a:ext cx="3175779" cy="433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Super Administrador: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Control total del sistema.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423501" y="2174757"/>
            <a:ext cx="1474113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Funciones Esenciales</a:t>
            </a:r>
            <a:endParaRPr lang="en-US" sz="2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AD0E57E-1376-B733-3E1D-BD8E21618420}"/>
              </a:ext>
            </a:extLst>
          </p:cNvPr>
          <p:cNvSpPr/>
          <p:nvPr/>
        </p:nvSpPr>
        <p:spPr>
          <a:xfrm rot="16200000">
            <a:off x="-244509" y="4346815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ESTUDIANTE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DBB0F7CA-5F13-6693-CA43-A52E26913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81" y="530840"/>
            <a:ext cx="3299047" cy="7178408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230844EB-4FDD-C522-0F6E-524283776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971" y="1090697"/>
            <a:ext cx="4046365" cy="6618552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8DBF4EA-A50B-2C59-4D29-AB624ACA2492}"/>
              </a:ext>
            </a:extLst>
          </p:cNvPr>
          <p:cNvSpPr/>
          <p:nvPr/>
        </p:nvSpPr>
        <p:spPr>
          <a:xfrm rot="16200000">
            <a:off x="4005556" y="3931145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PROFESOR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E09C1EB-574A-8407-326C-0B3F4399B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  <p:sp>
        <p:nvSpPr>
          <p:cNvPr id="4" name="Text 16">
            <a:extLst>
              <a:ext uri="{FF2B5EF4-FFF2-40B4-BE49-F238E27FC236}">
                <a16:creationId xmlns:a16="http://schemas.microsoft.com/office/drawing/2014/main" id="{D183DDC3-16B9-D023-BEE9-0B36E9E2D106}"/>
              </a:ext>
            </a:extLst>
          </p:cNvPr>
          <p:cNvSpPr/>
          <p:nvPr/>
        </p:nvSpPr>
        <p:spPr>
          <a:xfrm>
            <a:off x="9215556" y="4678530"/>
            <a:ext cx="10858024" cy="697706"/>
          </a:xfrm>
          <a:prstGeom prst="rect">
            <a:avLst/>
          </a:prstGeom>
          <a:noFill/>
          <a:ln/>
        </p:spPr>
        <p:txBody>
          <a:bodyPr wrap="none" lIns="0" tIns="0" rIns="0" bIns="0" numCol="2" rtlCol="0" anchor="t"/>
          <a:lstStyle/>
          <a:p>
            <a:pPr algn="ctr">
              <a:lnSpc>
                <a:spcPts val="1450"/>
              </a:lnSpc>
            </a:pP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Desde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el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registro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eventos hasta la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generación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reportes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el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sistema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está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diseñado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para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optimizar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las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interacciones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todos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60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usuarios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.</a:t>
            </a:r>
            <a:endParaRPr lang="en-US" sz="1600" dirty="0"/>
          </a:p>
          <a:p>
            <a:pPr marL="0" indent="0" algn="l">
              <a:lnSpc>
                <a:spcPts val="14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7082-6677-959C-FE03-88B5E461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02A0CA-0681-C6E1-E3B3-09CDA0999D62}"/>
              </a:ext>
            </a:extLst>
          </p:cNvPr>
          <p:cNvSpPr/>
          <p:nvPr/>
        </p:nvSpPr>
        <p:spPr>
          <a:xfrm>
            <a:off x="5463491" y="347186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Casos de Uso</a:t>
            </a:r>
            <a:endParaRPr lang="en-US" sz="40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8673CE0-98BE-DA63-B791-62491F6438A5}"/>
              </a:ext>
            </a:extLst>
          </p:cNvPr>
          <p:cNvSpPr/>
          <p:nvPr/>
        </p:nvSpPr>
        <p:spPr>
          <a:xfrm rot="16200000">
            <a:off x="-40872" y="5172314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ADMINISTRADOR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20C6268D-7317-3549-A9B3-ECD2534219B6}"/>
              </a:ext>
            </a:extLst>
          </p:cNvPr>
          <p:cNvSpPr/>
          <p:nvPr/>
        </p:nvSpPr>
        <p:spPr>
          <a:xfrm rot="16200000">
            <a:off x="7492200" y="6394324"/>
            <a:ext cx="1847807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</a:rPr>
              <a:t>SUPER ADMINISTRADOR</a:t>
            </a:r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9C0BAE94-B03B-F7DD-9316-D8CD8EEED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36" y="839611"/>
            <a:ext cx="4474005" cy="7184906"/>
          </a:xfrm>
          <a:prstGeom prst="rect">
            <a:avLst/>
          </a:prstGeom>
        </p:spPr>
      </p:pic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id="{D5C98DCA-FC78-3D9A-BEE0-BDF51EB42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569" y="746286"/>
            <a:ext cx="5328256" cy="718490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E7EA824-3773-D155-C8E6-569DBE4CD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8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9140" y="406145"/>
            <a:ext cx="5532120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Historias de Caso de Uso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36734" y="932498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4800"/>
          </a:p>
        </p:txBody>
      </p:sp>
      <p:sp>
        <p:nvSpPr>
          <p:cNvPr id="5" name="Text 3"/>
          <p:cNvSpPr/>
          <p:nvPr/>
        </p:nvSpPr>
        <p:spPr>
          <a:xfrm>
            <a:off x="1035129" y="1032153"/>
            <a:ext cx="1542693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HU-01: Gestión de Eventos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35129" y="1247656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administrador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crear, editar y eliminar eventos para mantener el calendario institucional actualizado.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6734" y="1630323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4800" dirty="0"/>
          </a:p>
        </p:txBody>
      </p:sp>
      <p:sp>
        <p:nvSpPr>
          <p:cNvPr id="9" name="Text 7"/>
          <p:cNvSpPr/>
          <p:nvPr/>
        </p:nvSpPr>
        <p:spPr>
          <a:xfrm>
            <a:off x="1035129" y="1729978"/>
            <a:ext cx="1886664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HU-02: Visualización de Eventos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35129" y="1945481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 estudiante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ver los eventos programados en un calendario interactivo para organizar mi asistencia con anticipación.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6734" y="2328148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s-ES" sz="4800"/>
          </a:p>
        </p:txBody>
      </p:sp>
      <p:sp>
        <p:nvSpPr>
          <p:cNvPr id="12" name="Text 10"/>
          <p:cNvSpPr/>
          <p:nvPr/>
        </p:nvSpPr>
        <p:spPr>
          <a:xfrm>
            <a:off x="661273" y="2533769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035129" y="2427803"/>
            <a:ext cx="1744028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HU-03: Etiquetado de Eventos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5129" y="2643307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administrador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asignar categorías o etiquetas a los eventos para facilitar su búsqueda y filtrado.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734" y="3025973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s-ES" sz="4800"/>
          </a:p>
        </p:txBody>
      </p:sp>
      <p:sp>
        <p:nvSpPr>
          <p:cNvPr id="16" name="Text 14"/>
          <p:cNvSpPr/>
          <p:nvPr/>
        </p:nvSpPr>
        <p:spPr>
          <a:xfrm>
            <a:off x="661273" y="3231594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035129" y="3125629"/>
            <a:ext cx="1687473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HU-04: Búsqueda de Eventos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35129" y="3341132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buscar eventos por nombre, tipo o fecha para encontrar fácilmente los que me interesan.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6734" y="3723799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4800"/>
          </a:p>
        </p:txBody>
      </p:sp>
      <p:sp>
        <p:nvSpPr>
          <p:cNvPr id="20" name="Text 18"/>
          <p:cNvSpPr/>
          <p:nvPr/>
        </p:nvSpPr>
        <p:spPr>
          <a:xfrm>
            <a:off x="661273" y="3929420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35129" y="3823454"/>
            <a:ext cx="2474238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HU-05: Notificaciones para Organizadores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35129" y="4038957"/>
            <a:ext cx="12078705" cy="15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5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docente u organizador</a:t>
            </a:r>
            <a:r>
              <a:rPr lang="en-US" sz="15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recibir notificaciones cuando un evento es aprobado o modificado para mantenerme informado sobre cambios.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7885" y="4421624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4800" dirty="0"/>
          </a:p>
        </p:txBody>
      </p:sp>
      <p:sp>
        <p:nvSpPr>
          <p:cNvPr id="24" name="Text 22"/>
          <p:cNvSpPr/>
          <p:nvPr/>
        </p:nvSpPr>
        <p:spPr>
          <a:xfrm>
            <a:off x="661273" y="4627245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035129" y="4521279"/>
            <a:ext cx="1933456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HU-06: Recordatorios de Eventos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5129" y="4736783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recibir recordatorios de los eventos próximos para no perderme las actividades importantes.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7885" y="5119449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s-ES" sz="4800" dirty="0"/>
          </a:p>
        </p:txBody>
      </p:sp>
      <p:sp>
        <p:nvSpPr>
          <p:cNvPr id="29" name="Text 27"/>
          <p:cNvSpPr/>
          <p:nvPr/>
        </p:nvSpPr>
        <p:spPr>
          <a:xfrm>
            <a:off x="1035129" y="5219105"/>
            <a:ext cx="1933456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HU-07: Estadísticas de Asistencia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35129" y="5434608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administrador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visualizar estadísticas de asistencia para evaluar el impacto de cada evento.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6734" y="5817275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CC914D"/>
          </a:solidFill>
          <a:ln w="7620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s-ES" sz="4800" dirty="0"/>
          </a:p>
        </p:txBody>
      </p:sp>
      <p:sp>
        <p:nvSpPr>
          <p:cNvPr id="32" name="Text 30"/>
          <p:cNvSpPr/>
          <p:nvPr/>
        </p:nvSpPr>
        <p:spPr>
          <a:xfrm>
            <a:off x="661273" y="6022896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1035129" y="5916930"/>
            <a:ext cx="1467803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HU-08: Eventos Favoritos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35129" y="6132433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marcar eventos como favoritos para acceder rápidamente a los que me interesan más.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6734" y="6515100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s-ES" sz="4800" dirty="0"/>
          </a:p>
        </p:txBody>
      </p:sp>
      <p:sp>
        <p:nvSpPr>
          <p:cNvPr id="37" name="Text 35"/>
          <p:cNvSpPr/>
          <p:nvPr/>
        </p:nvSpPr>
        <p:spPr>
          <a:xfrm>
            <a:off x="1035129" y="6614755"/>
            <a:ext cx="2083356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HU-09: Comentarios y Valoraciones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35129" y="6830258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comentar o valorar un evento para dar mi opinión y aportar retroalimentación.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6734" y="7212925"/>
            <a:ext cx="398740" cy="598170"/>
          </a:xfrm>
          <a:prstGeom prst="roundRect">
            <a:avLst>
              <a:gd name="adj" fmla="val 360048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s-ES" sz="4800"/>
          </a:p>
        </p:txBody>
      </p:sp>
      <p:sp>
        <p:nvSpPr>
          <p:cNvPr id="40" name="Text 38"/>
          <p:cNvSpPr/>
          <p:nvPr/>
        </p:nvSpPr>
        <p:spPr>
          <a:xfrm>
            <a:off x="661273" y="7418546"/>
            <a:ext cx="149543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1035129" y="7312581"/>
            <a:ext cx="1876782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HU-10: Exportación de Reportes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35129" y="7528084"/>
            <a:ext cx="13058537" cy="159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Como </a:t>
            </a: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administrador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, quiero exportar reportes de eventos en formato PDF o Excel para presentar resultados de gestión.</a:t>
            </a:r>
            <a:endParaRPr lang="en-US" sz="1600" dirty="0"/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15769290-6175-D04C-CE74-E3D2DFE97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2751" y="324801"/>
            <a:ext cx="7664529" cy="924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Modelo </a:t>
            </a:r>
            <a:r>
              <a:rPr lang="en-US" sz="3600" dirty="0" err="1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Relacional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82751" y="1133890"/>
            <a:ext cx="1960245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Tablas Fundamentales</a:t>
            </a:r>
            <a:endParaRPr lang="en-US" sz="2400" b="1" dirty="0"/>
          </a:p>
        </p:txBody>
      </p:sp>
      <p:sp>
        <p:nvSpPr>
          <p:cNvPr id="16" name="Text 12"/>
          <p:cNvSpPr/>
          <p:nvPr/>
        </p:nvSpPr>
        <p:spPr>
          <a:xfrm>
            <a:off x="220953" y="1516081"/>
            <a:ext cx="365176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Usuarios: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Almacena información de los perfiles.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19251" y="1876046"/>
            <a:ext cx="365176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Roles: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Define los niveles de acceso y permisos.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19251" y="2241686"/>
            <a:ext cx="3651766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Eventos: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Contiene todos los detalles de los eventos.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01573" y="2816829"/>
            <a:ext cx="3651766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Inscripciones: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Registra a los usuarios interesados en eventos.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39851" y="3375128"/>
            <a:ext cx="3651766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Asistencia: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Controla la participación real en eventos.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39851" y="3996452"/>
            <a:ext cx="365176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Noticias: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Guarda comunicados y novedades.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59236" y="4895425"/>
            <a:ext cx="184939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Relaciones Clave</a:t>
            </a:r>
            <a:endParaRPr lang="en-US" sz="2400" b="1" dirty="0"/>
          </a:p>
        </p:txBody>
      </p:sp>
      <p:sp>
        <p:nvSpPr>
          <p:cNvPr id="23" name="Text 19"/>
          <p:cNvSpPr/>
          <p:nvPr/>
        </p:nvSpPr>
        <p:spPr>
          <a:xfrm>
            <a:off x="582751" y="5203288"/>
            <a:ext cx="3651766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Las relaciones entre tablas aseguran la integridad y consistencia de los datos, permitiendo un flujo de información eficiente: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201573" y="6298004"/>
            <a:ext cx="365176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Usuario–Rol: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Cada usuario tiene un rol específico.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201573" y="6640372"/>
            <a:ext cx="3651766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Evento–Inscripción: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Un evento puede tener múltiples inscripciones.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201573" y="7465520"/>
            <a:ext cx="3651766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Evento–Asistencia:</a:t>
            </a:r>
            <a:r>
              <a:rPr lang="en-US" sz="16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La asistencia se registra por evento y por usuario.</a:t>
            </a:r>
            <a:endParaRPr lang="en-US" sz="1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815D14E-DCC4-D08B-CAB0-E64B9FE8D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9212" y="7702217"/>
            <a:ext cx="2088356" cy="1602693"/>
          </a:xfrm>
          <a:prstGeom prst="rect">
            <a:avLst/>
          </a:prstGeom>
        </p:spPr>
      </p:pic>
      <p:pic>
        <p:nvPicPr>
          <p:cNvPr id="27" name="Imagen 26" descr="C:\Users\WaltherSantiagoJaram\AppData\Local\Microsoft\Windows\INetCache\Content.MSO\1800AD90.tmp">
            <a:extLst>
              <a:ext uri="{FF2B5EF4-FFF2-40B4-BE49-F238E27FC236}">
                <a16:creationId xmlns:a16="http://schemas.microsoft.com/office/drawing/2014/main" id="{190AC39F-8522-5B48-84D9-C51DE3BE4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528" y="182998"/>
            <a:ext cx="8592622" cy="7930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4463" y="2976135"/>
            <a:ext cx="9661472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¡MUCHAS GRACIAS POR SU ATENCIÓN!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899048" y="3824525"/>
            <a:ext cx="883230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0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Esperamos que esta presentación en vivo haya sido informativa y les haya proporcionado una comprensión clara de nuestro sistema. Sus preguntas y aportaciones son inestimables para nosotros.</a:t>
            </a:r>
            <a:endParaRPr lang="en-US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96DB3A-762D-B8A2-FDFD-315E09EFD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6212" y="7778417"/>
            <a:ext cx="2088356" cy="16026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1852</Words>
  <Application>Microsoft Office PowerPoint</Application>
  <PresentationFormat>Personalizado</PresentationFormat>
  <Paragraphs>240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Brygada 1918 Light</vt:lpstr>
      <vt:lpstr>Arial</vt:lpstr>
      <vt:lpstr>Brygada 1918</vt:lpstr>
      <vt:lpstr>Brygada 1918 Semi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Esteban gabriel xd</dc:creator>
  <cp:lastModifiedBy>Esteban gabriel xd</cp:lastModifiedBy>
  <cp:revision>7</cp:revision>
  <dcterms:created xsi:type="dcterms:W3CDTF">2025-11-12T17:36:14Z</dcterms:created>
  <dcterms:modified xsi:type="dcterms:W3CDTF">2025-11-12T23:30:55Z</dcterms:modified>
</cp:coreProperties>
</file>